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"/>
  </p:sldMasterIdLst>
  <p:sldIdLst>
    <p:sldId id="258" r:id="rId2"/>
    <p:sldId id="257" r:id="rId3"/>
    <p:sldId id="256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D228"/>
    <a:srgbClr val="147EDF"/>
    <a:srgbClr val="CA5FA3"/>
    <a:srgbClr val="D48A14"/>
    <a:srgbClr val="CB483A"/>
    <a:srgbClr val="4E5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D96D8087-10C9-4D6B-8CC4-7271E1049C69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26263D37-DA90-4299-8825-FE7DAE3BFC1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830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8087-10C9-4D6B-8CC4-7271E1049C69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3D37-DA90-4299-8825-FE7DAE3BFC1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892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96D8087-10C9-4D6B-8CC4-7271E1049C69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26263D37-DA90-4299-8825-FE7DAE3BFC1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20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96D8087-10C9-4D6B-8CC4-7271E1049C69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26263D37-DA90-4299-8825-FE7DAE3BFC1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3514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96D8087-10C9-4D6B-8CC4-7271E1049C69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26263D37-DA90-4299-8825-FE7DAE3BFC1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905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8087-10C9-4D6B-8CC4-7271E1049C69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3D37-DA90-4299-8825-FE7DAE3BFC1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7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96D8087-10C9-4D6B-8CC4-7271E1049C69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26263D37-DA90-4299-8825-FE7DAE3BFC1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243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8087-10C9-4D6B-8CC4-7271E1049C69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3D37-DA90-4299-8825-FE7DAE3BFC1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705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96D8087-10C9-4D6B-8CC4-7271E1049C69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26263D37-DA90-4299-8825-FE7DAE3BFC1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9519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8087-10C9-4D6B-8CC4-7271E1049C69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3D37-DA90-4299-8825-FE7DAE3BFC1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2068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96D8087-10C9-4D6B-8CC4-7271E1049C69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26263D37-DA90-4299-8825-FE7DAE3BFC1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5232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D8087-10C9-4D6B-8CC4-7271E1049C69}" type="datetimeFigureOut">
              <a:rPr lang="it-IT" smtClean="0"/>
              <a:t>05/10/2026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63D37-DA90-4299-8825-FE7DAE3BFC1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130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E414-F03E-0B51-994B-0A84C82F3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E-commerce Customer &amp; Sales Analytics</a:t>
            </a:r>
            <a:endParaRPr lang="it-I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E6C6F-E212-80AC-08BF-ACB9D86B44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 err="1"/>
              <a:t>bigquery</a:t>
            </a:r>
            <a:r>
              <a:rPr lang="it-IT" dirty="0"/>
              <a:t>-public-</a:t>
            </a:r>
            <a:r>
              <a:rPr lang="it-IT" dirty="0" err="1"/>
              <a:t>data.thelook_ecommerce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0971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F4E58-70D3-B3DC-766E-982307C50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Business objective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6B328-172A-A145-0219-77EA87D9B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Identify the main drivers of revenue and potential opportunities for customer retention by:</a:t>
            </a:r>
          </a:p>
          <a:p>
            <a:r>
              <a:rPr lang="en-GB" dirty="0" err="1"/>
              <a:t>analyzing</a:t>
            </a:r>
            <a:r>
              <a:rPr lang="en-GB" dirty="0"/>
              <a:t> customer </a:t>
            </a:r>
            <a:r>
              <a:rPr lang="en-GB" dirty="0" err="1"/>
              <a:t>behavior</a:t>
            </a:r>
            <a:r>
              <a:rPr lang="en-GB" dirty="0"/>
              <a:t>;</a:t>
            </a:r>
          </a:p>
          <a:p>
            <a:r>
              <a:rPr lang="en-GB" dirty="0"/>
              <a:t>building an RFM segmentation of customers;</a:t>
            </a:r>
          </a:p>
          <a:p>
            <a:r>
              <a:rPr lang="en-GB" dirty="0"/>
              <a:t>creating a dashboard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3028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A9CAB7-9BF7-C7BB-40B1-48727302E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>
            <a:normAutofit/>
          </a:bodyPr>
          <a:lstStyle/>
          <a:p>
            <a:r>
              <a:rPr lang="it-IT" dirty="0"/>
              <a:t>Key </a:t>
            </a:r>
            <a:r>
              <a:rPr lang="it-IT" dirty="0" err="1"/>
              <a:t>findings</a:t>
            </a:r>
            <a:endParaRPr lang="it-I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C5B180-4248-4599-DC68-7215D3D74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>
            <a:normAutofit/>
          </a:bodyPr>
          <a:lstStyle/>
          <a:p>
            <a:r>
              <a:rPr lang="it-IT" dirty="0"/>
              <a:t>Customers by country</a:t>
            </a:r>
          </a:p>
          <a:p>
            <a:pPr lvl="1"/>
            <a:r>
              <a:rPr lang="it-IT" dirty="0"/>
              <a:t>71% </a:t>
            </a:r>
            <a:r>
              <a:rPr lang="it-IT" dirty="0" err="1"/>
              <a:t>comes</a:t>
            </a:r>
            <a:r>
              <a:rPr lang="it-IT" dirty="0"/>
              <a:t> from 3 countries (China, USA and </a:t>
            </a:r>
            <a:r>
              <a:rPr lang="it-IT" dirty="0" err="1"/>
              <a:t>Brasil</a:t>
            </a:r>
            <a:r>
              <a:rPr lang="it-IT" dirty="0"/>
              <a:t>)</a:t>
            </a:r>
          </a:p>
          <a:p>
            <a:pPr lvl="1"/>
            <a:r>
              <a:rPr lang="it-IT" dirty="0" err="1"/>
              <a:t>Smaller</a:t>
            </a:r>
            <a:r>
              <a:rPr lang="it-IT" dirty="0"/>
              <a:t> markets in Australia, Asia, South America and Europe</a:t>
            </a:r>
          </a:p>
          <a:p>
            <a:pPr lvl="1"/>
            <a:r>
              <a:rPr lang="it-IT" dirty="0"/>
              <a:t>Chances to </a:t>
            </a:r>
            <a:r>
              <a:rPr lang="it-IT" dirty="0" err="1"/>
              <a:t>expand</a:t>
            </a:r>
            <a:r>
              <a:rPr lang="it-IT" dirty="0"/>
              <a:t> in </a:t>
            </a:r>
            <a:r>
              <a:rPr lang="it-IT" dirty="0" err="1"/>
              <a:t>smaller</a:t>
            </a:r>
            <a:r>
              <a:rPr lang="it-IT" dirty="0"/>
              <a:t> markets by making special discounts for clients coming from </a:t>
            </a:r>
            <a:r>
              <a:rPr lang="it-IT" dirty="0" err="1"/>
              <a:t>those</a:t>
            </a:r>
            <a:r>
              <a:rPr lang="it-IT" dirty="0"/>
              <a:t> countries</a:t>
            </a:r>
          </a:p>
          <a:p>
            <a:r>
              <a:rPr lang="it-IT" dirty="0"/>
              <a:t>Profit by </a:t>
            </a:r>
            <a:r>
              <a:rPr lang="it-IT" dirty="0" err="1"/>
              <a:t>category</a:t>
            </a:r>
            <a:endParaRPr lang="it-IT" dirty="0"/>
          </a:p>
          <a:p>
            <a:pPr lvl="1"/>
            <a:r>
              <a:rPr lang="it-IT" dirty="0" err="1"/>
              <a:t>Outerwear</a:t>
            </a:r>
            <a:r>
              <a:rPr lang="it-IT" dirty="0"/>
              <a:t> &amp; Coats and Jeans stand out,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Jumpsuits</a:t>
            </a:r>
            <a:r>
              <a:rPr lang="it-IT" dirty="0"/>
              <a:t> &amp; </a:t>
            </a:r>
            <a:r>
              <a:rPr lang="it-IT" dirty="0" err="1"/>
              <a:t>Rompers</a:t>
            </a:r>
            <a:r>
              <a:rPr lang="it-IT" dirty="0"/>
              <a:t> and </a:t>
            </a:r>
            <a:r>
              <a:rPr lang="it-IT" dirty="0" err="1"/>
              <a:t>Clothing</a:t>
            </a:r>
            <a:r>
              <a:rPr lang="it-IT" dirty="0"/>
              <a:t> Sets are by far the last </a:t>
            </a:r>
            <a:r>
              <a:rPr lang="it-IT" dirty="0" err="1"/>
              <a:t>categories</a:t>
            </a:r>
            <a:endParaRPr lang="it-IT" dirty="0"/>
          </a:p>
          <a:p>
            <a:r>
              <a:rPr lang="it-IT" dirty="0" err="1"/>
              <a:t>Orders</a:t>
            </a:r>
            <a:r>
              <a:rPr lang="it-IT" dirty="0"/>
              <a:t> over time</a:t>
            </a:r>
          </a:p>
          <a:p>
            <a:pPr lvl="1"/>
            <a:r>
              <a:rPr lang="it-IT" dirty="0" err="1"/>
              <a:t>Orders</a:t>
            </a:r>
            <a:r>
              <a:rPr lang="it-IT" dirty="0"/>
              <a:t> </a:t>
            </a:r>
            <a:r>
              <a:rPr lang="it-IT" dirty="0" err="1"/>
              <a:t>increasing</a:t>
            </a:r>
            <a:r>
              <a:rPr lang="it-IT" dirty="0"/>
              <a:t> (</a:t>
            </a:r>
            <a:r>
              <a:rPr lang="it-IT" dirty="0" err="1"/>
              <a:t>MoM</a:t>
            </a:r>
            <a:r>
              <a:rPr lang="it-IT" dirty="0"/>
              <a:t>)</a:t>
            </a:r>
          </a:p>
          <a:p>
            <a:r>
              <a:rPr lang="it-IT" dirty="0" err="1"/>
              <a:t>Orders</a:t>
            </a:r>
            <a:r>
              <a:rPr lang="it-IT" dirty="0"/>
              <a:t> per customers by country</a:t>
            </a:r>
          </a:p>
          <a:p>
            <a:pPr lvl="1"/>
            <a:r>
              <a:rPr lang="it-IT" dirty="0"/>
              <a:t>1,25 </a:t>
            </a:r>
            <a:r>
              <a:rPr lang="it-IT" dirty="0" err="1"/>
              <a:t>orders</a:t>
            </a:r>
            <a:r>
              <a:rPr lang="it-IT" dirty="0"/>
              <a:t> per customer </a:t>
            </a:r>
            <a:r>
              <a:rPr lang="it-IT" dirty="0" err="1"/>
              <a:t>constant</a:t>
            </a:r>
            <a:r>
              <a:rPr lang="it-IT" dirty="0"/>
              <a:t> over countries</a:t>
            </a:r>
          </a:p>
        </p:txBody>
      </p:sp>
    </p:spTree>
    <p:extLst>
      <p:ext uri="{BB962C8B-B14F-4D97-AF65-F5344CB8AC3E}">
        <p14:creationId xmlns:p14="http://schemas.microsoft.com/office/powerpoint/2010/main" val="320894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D0127-00E5-B7DB-7354-4778650A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33B4A3-AFA6-505F-2F83-FFA6996A7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>
            <a:normAutofit/>
          </a:bodyPr>
          <a:lstStyle/>
          <a:p>
            <a:r>
              <a:rPr lang="it-IT" dirty="0"/>
              <a:t>RFM </a:t>
            </a:r>
            <a:r>
              <a:rPr lang="it-IT" dirty="0" err="1"/>
              <a:t>segmentation</a:t>
            </a:r>
            <a:endParaRPr lang="it-IT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573E40-2A40-656A-C22B-23ED1060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>
            <a:normAutofit lnSpcReduction="10000"/>
          </a:bodyPr>
          <a:lstStyle/>
          <a:p>
            <a:r>
              <a:rPr lang="it-IT" dirty="0"/>
              <a:t>Customers </a:t>
            </a:r>
            <a:r>
              <a:rPr lang="it-IT" dirty="0" err="1"/>
              <a:t>segmented</a:t>
            </a:r>
            <a:r>
              <a:rPr lang="it-IT" dirty="0"/>
              <a:t> by:</a:t>
            </a:r>
          </a:p>
          <a:p>
            <a:r>
              <a:rPr lang="it-IT" dirty="0"/>
              <a:t>R (</a:t>
            </a:r>
            <a:r>
              <a:rPr lang="it-IT" dirty="0" err="1"/>
              <a:t>recency</a:t>
            </a:r>
            <a:r>
              <a:rPr lang="it-IT" dirty="0"/>
              <a:t>) = days </a:t>
            </a:r>
            <a:r>
              <a:rPr lang="it-IT" dirty="0" err="1"/>
              <a:t>since</a:t>
            </a:r>
            <a:r>
              <a:rPr lang="it-IT" dirty="0"/>
              <a:t> last </a:t>
            </a:r>
            <a:r>
              <a:rPr lang="it-IT" dirty="0" err="1"/>
              <a:t>purchase</a:t>
            </a:r>
            <a:endParaRPr lang="it-IT" dirty="0"/>
          </a:p>
          <a:p>
            <a:r>
              <a:rPr lang="it-IT" dirty="0"/>
              <a:t>F (frequency) =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orders</a:t>
            </a:r>
            <a:endParaRPr lang="it-IT" dirty="0"/>
          </a:p>
          <a:p>
            <a:r>
              <a:rPr lang="it-IT" dirty="0"/>
              <a:t>M (</a:t>
            </a:r>
            <a:r>
              <a:rPr lang="it-IT" dirty="0" err="1"/>
              <a:t>monetary</a:t>
            </a:r>
            <a:r>
              <a:rPr lang="it-IT" dirty="0"/>
              <a:t>) = revenue</a:t>
            </a:r>
          </a:p>
          <a:p>
            <a:pPr lvl="1"/>
            <a:endParaRPr lang="it-IT" dirty="0"/>
          </a:p>
          <a:p>
            <a:r>
              <a:rPr lang="it-IT" dirty="0" err="1"/>
              <a:t>Segments</a:t>
            </a:r>
            <a:r>
              <a:rPr lang="it-IT" dirty="0"/>
              <a:t>:</a:t>
            </a:r>
          </a:p>
          <a:p>
            <a:r>
              <a:rPr lang="it-IT" dirty="0">
                <a:solidFill>
                  <a:srgbClr val="19D228"/>
                </a:solidFill>
              </a:rPr>
              <a:t>Champions</a:t>
            </a:r>
            <a:r>
              <a:rPr lang="it-IT" dirty="0"/>
              <a:t> (</a:t>
            </a:r>
            <a:r>
              <a:rPr lang="it-IT" dirty="0" err="1"/>
              <a:t>also</a:t>
            </a:r>
            <a:r>
              <a:rPr lang="it-IT" dirty="0"/>
              <a:t> M &gt;= 4)</a:t>
            </a:r>
          </a:p>
          <a:p>
            <a:r>
              <a:rPr lang="it-IT" dirty="0">
                <a:solidFill>
                  <a:srgbClr val="147EDF"/>
                </a:solidFill>
              </a:rPr>
              <a:t>Loyal Customers</a:t>
            </a:r>
          </a:p>
          <a:p>
            <a:r>
              <a:rPr lang="it-IT" dirty="0">
                <a:solidFill>
                  <a:srgbClr val="CA5FA3"/>
                </a:solidFill>
              </a:rPr>
              <a:t>New Customers</a:t>
            </a:r>
          </a:p>
          <a:p>
            <a:r>
              <a:rPr lang="it-IT" dirty="0">
                <a:solidFill>
                  <a:srgbClr val="D48A14"/>
                </a:solidFill>
              </a:rPr>
              <a:t>At risk</a:t>
            </a:r>
          </a:p>
          <a:p>
            <a:r>
              <a:rPr lang="it-IT" dirty="0">
                <a:solidFill>
                  <a:srgbClr val="CB483A"/>
                </a:solidFill>
              </a:rPr>
              <a:t>Lost customers</a:t>
            </a:r>
          </a:p>
          <a:p>
            <a:r>
              <a:rPr lang="it-IT" dirty="0" err="1">
                <a:solidFill>
                  <a:srgbClr val="4E5B67"/>
                </a:solidFill>
              </a:rPr>
              <a:t>Other</a:t>
            </a:r>
            <a:endParaRPr lang="it-IT" dirty="0">
              <a:solidFill>
                <a:srgbClr val="4E5B67"/>
              </a:solidFill>
            </a:endParaRPr>
          </a:p>
          <a:p>
            <a:pPr lvl="1"/>
            <a:endParaRPr lang="it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208AB0-0103-6897-DE74-E9039883E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060" y="3766148"/>
            <a:ext cx="4833028" cy="20816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FD1247-1B1C-D63F-5DC0-A2C5B56E0488}"/>
              </a:ext>
            </a:extLst>
          </p:cNvPr>
          <p:cNvSpPr txBox="1"/>
          <p:nvPr/>
        </p:nvSpPr>
        <p:spPr>
          <a:xfrm>
            <a:off x="266700" y="6297713"/>
            <a:ext cx="11658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Note: </a:t>
            </a:r>
            <a:r>
              <a:rPr lang="it-IT" sz="1600" dirty="0" err="1"/>
              <a:t>not</a:t>
            </a:r>
            <a:r>
              <a:rPr lang="it-IT" sz="1600" dirty="0"/>
              <a:t> </a:t>
            </a:r>
            <a:r>
              <a:rPr lang="it-IT" sz="1600" dirty="0" err="1"/>
              <a:t>all</a:t>
            </a:r>
            <a:r>
              <a:rPr lang="it-IT" sz="1600" dirty="0"/>
              <a:t> customers </a:t>
            </a:r>
            <a:r>
              <a:rPr lang="it-IT" sz="1600" dirty="0" err="1"/>
              <a:t>could</a:t>
            </a:r>
            <a:r>
              <a:rPr lang="it-IT" sz="1600" dirty="0"/>
              <a:t> be </a:t>
            </a:r>
            <a:r>
              <a:rPr lang="it-IT" sz="1600" dirty="0" err="1"/>
              <a:t>segmented</a:t>
            </a:r>
            <a:r>
              <a:rPr lang="it-IT" sz="1600" dirty="0"/>
              <a:t> (i.e. no </a:t>
            </a:r>
            <a:r>
              <a:rPr lang="it-IT" sz="1600" dirty="0" err="1"/>
              <a:t>purchases</a:t>
            </a:r>
            <a:r>
              <a:rPr lang="it-IT" sz="1600" dirty="0"/>
              <a:t>, data </a:t>
            </a:r>
            <a:r>
              <a:rPr lang="it-IT" sz="1600" dirty="0" err="1"/>
              <a:t>quality</a:t>
            </a:r>
            <a:r>
              <a:rPr lang="it-IT" sz="1600" dirty="0"/>
              <a:t> </a:t>
            </a:r>
            <a:r>
              <a:rPr lang="it-IT" sz="1600" dirty="0" err="1"/>
              <a:t>issues</a:t>
            </a:r>
            <a:r>
              <a:rPr lang="it-IT" sz="1600" dirty="0"/>
              <a:t>, </a:t>
            </a:r>
            <a:r>
              <a:rPr lang="it-IT" sz="1600" dirty="0" err="1"/>
              <a:t>only</a:t>
            </a:r>
            <a:r>
              <a:rPr lang="it-IT" sz="1600" dirty="0"/>
              <a:t> «</a:t>
            </a:r>
            <a:r>
              <a:rPr lang="it-IT" sz="1600" dirty="0" err="1"/>
              <a:t>Cancelled</a:t>
            </a:r>
            <a:r>
              <a:rPr lang="it-IT" sz="1600" dirty="0"/>
              <a:t>» or «</a:t>
            </a:r>
            <a:r>
              <a:rPr lang="it-IT" sz="1600" dirty="0" err="1"/>
              <a:t>Returned</a:t>
            </a:r>
            <a:r>
              <a:rPr lang="it-IT" sz="1600" dirty="0"/>
              <a:t>» </a:t>
            </a:r>
            <a:r>
              <a:rPr lang="it-IT" sz="1600" dirty="0" err="1"/>
              <a:t>orders</a:t>
            </a:r>
            <a:r>
              <a:rPr lang="it-IT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55053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7C6AF-337A-B9FC-AAAE-932832DC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4EC03B-A468-1917-D236-B182808A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>
            <a:normAutofit/>
          </a:bodyPr>
          <a:lstStyle/>
          <a:p>
            <a:r>
              <a:rPr lang="it-IT" dirty="0"/>
              <a:t>Key </a:t>
            </a:r>
            <a:r>
              <a:rPr lang="it-IT" dirty="0" err="1"/>
              <a:t>findings</a:t>
            </a:r>
            <a:r>
              <a:rPr lang="it-IT" dirty="0"/>
              <a:t> (RFM)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57BF4E-4FEE-E6A0-896C-AA2DE474A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>
            <a:normAutofit/>
          </a:bodyPr>
          <a:lstStyle/>
          <a:p>
            <a:r>
              <a:rPr lang="it-IT" dirty="0"/>
              <a:t>Customers </a:t>
            </a:r>
            <a:r>
              <a:rPr lang="it-IT" dirty="0" err="1"/>
              <a:t>distribution</a:t>
            </a:r>
            <a:endParaRPr lang="it-IT" dirty="0"/>
          </a:p>
          <a:p>
            <a:pPr lvl="1"/>
            <a:r>
              <a:rPr lang="it-IT" dirty="0" err="1"/>
              <a:t>Most</a:t>
            </a:r>
            <a:r>
              <a:rPr lang="it-IT" dirty="0"/>
              <a:t> users </a:t>
            </a:r>
            <a:r>
              <a:rPr lang="it-IT" dirty="0" err="1"/>
              <a:t>have</a:t>
            </a:r>
            <a:r>
              <a:rPr lang="it-IT" dirty="0"/>
              <a:t> no </a:t>
            </a:r>
            <a:r>
              <a:rPr lang="it-IT" dirty="0" err="1"/>
              <a:t>orders</a:t>
            </a:r>
            <a:r>
              <a:rPr lang="it-IT" dirty="0"/>
              <a:t> (20k)</a:t>
            </a:r>
          </a:p>
          <a:p>
            <a:pPr lvl="1"/>
            <a:r>
              <a:rPr lang="it-IT" dirty="0" err="1"/>
              <a:t>Many</a:t>
            </a:r>
            <a:r>
              <a:rPr lang="it-IT" dirty="0"/>
              <a:t> users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«</a:t>
            </a:r>
            <a:r>
              <a:rPr lang="it-IT" dirty="0" err="1"/>
              <a:t>cancelled</a:t>
            </a:r>
            <a:r>
              <a:rPr lang="it-IT" dirty="0"/>
              <a:t>» or «</a:t>
            </a:r>
            <a:r>
              <a:rPr lang="it-IT" dirty="0" err="1"/>
              <a:t>returned</a:t>
            </a:r>
            <a:r>
              <a:rPr lang="it-IT" dirty="0"/>
              <a:t>» </a:t>
            </a:r>
            <a:r>
              <a:rPr lang="it-IT" dirty="0" err="1"/>
              <a:t>orders</a:t>
            </a:r>
            <a:r>
              <a:rPr lang="it-IT" dirty="0"/>
              <a:t> (14k)</a:t>
            </a:r>
          </a:p>
          <a:p>
            <a:pPr lvl="1"/>
            <a:r>
              <a:rPr lang="it-IT" dirty="0"/>
              <a:t>A </a:t>
            </a:r>
            <a:r>
              <a:rPr lang="it-IT" dirty="0" err="1"/>
              <a:t>lot</a:t>
            </a:r>
            <a:r>
              <a:rPr lang="it-IT" dirty="0"/>
              <a:t> of «</a:t>
            </a:r>
            <a:r>
              <a:rPr lang="it-IT" dirty="0" err="1"/>
              <a:t>at</a:t>
            </a:r>
            <a:r>
              <a:rPr lang="it-IT" dirty="0"/>
              <a:t> risk» customers (14k) and «</a:t>
            </a:r>
            <a:r>
              <a:rPr lang="it-IT" dirty="0" err="1"/>
              <a:t>lost</a:t>
            </a:r>
            <a:r>
              <a:rPr lang="it-IT" dirty="0"/>
              <a:t>» customers (12k) -&gt; </a:t>
            </a:r>
            <a:r>
              <a:rPr lang="it-IT" dirty="0" err="1"/>
              <a:t>dedicated</a:t>
            </a:r>
            <a:r>
              <a:rPr lang="it-IT" dirty="0"/>
              <a:t> discounts in </a:t>
            </a:r>
            <a:r>
              <a:rPr lang="it-IT" dirty="0" err="1"/>
              <a:t>order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encourage</a:t>
            </a:r>
            <a:r>
              <a:rPr lang="it-IT" dirty="0"/>
              <a:t> </a:t>
            </a:r>
            <a:r>
              <a:rPr lang="it-IT" dirty="0" err="1"/>
              <a:t>further</a:t>
            </a:r>
            <a:r>
              <a:rPr lang="it-IT" dirty="0"/>
              <a:t> </a:t>
            </a:r>
            <a:r>
              <a:rPr lang="it-IT" dirty="0" err="1"/>
              <a:t>purchase</a:t>
            </a:r>
            <a:endParaRPr lang="it-IT" dirty="0"/>
          </a:p>
          <a:p>
            <a:r>
              <a:rPr lang="it-IT" dirty="0"/>
              <a:t>Profit/</a:t>
            </a:r>
            <a:r>
              <a:rPr lang="it-IT" dirty="0" err="1"/>
              <a:t>margin</a:t>
            </a:r>
            <a:endParaRPr lang="it-IT" dirty="0"/>
          </a:p>
          <a:p>
            <a:pPr lvl="1"/>
            <a:r>
              <a:rPr lang="it-IT" dirty="0"/>
              <a:t>Little </a:t>
            </a:r>
            <a:r>
              <a:rPr lang="it-IT" dirty="0" err="1"/>
              <a:t>differences</a:t>
            </a:r>
            <a:r>
              <a:rPr lang="it-IT" dirty="0"/>
              <a:t> in revenue and profit per customer</a:t>
            </a:r>
          </a:p>
          <a:p>
            <a:r>
              <a:rPr lang="it-IT" dirty="0"/>
              <a:t>Revenue by country</a:t>
            </a:r>
          </a:p>
          <a:p>
            <a:pPr lvl="1"/>
            <a:r>
              <a:rPr lang="it-IT" dirty="0"/>
              <a:t>Little </a:t>
            </a:r>
            <a:r>
              <a:rPr lang="it-IT" dirty="0" err="1"/>
              <a:t>normalized</a:t>
            </a:r>
            <a:r>
              <a:rPr lang="it-IT" dirty="0"/>
              <a:t> </a:t>
            </a:r>
            <a:r>
              <a:rPr lang="it-IT" dirty="0" err="1"/>
              <a:t>differences</a:t>
            </a:r>
            <a:endParaRPr lang="it-IT" dirty="0"/>
          </a:p>
          <a:p>
            <a:r>
              <a:rPr lang="it-IT" dirty="0"/>
              <a:t>Revenue by gender</a:t>
            </a:r>
          </a:p>
          <a:p>
            <a:pPr lvl="1"/>
            <a:r>
              <a:rPr lang="it-IT" dirty="0"/>
              <a:t>Little </a:t>
            </a:r>
            <a:r>
              <a:rPr lang="it-IT" dirty="0" err="1"/>
              <a:t>normalized</a:t>
            </a:r>
            <a:r>
              <a:rPr lang="it-IT" dirty="0"/>
              <a:t> </a:t>
            </a:r>
            <a:r>
              <a:rPr lang="it-IT" dirty="0" err="1"/>
              <a:t>differences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86818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731AA-47CF-6CDB-3D4E-B7693A4D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BB092D-F679-A41F-11B2-2477B17E9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>
            <a:normAutofit/>
          </a:bodyPr>
          <a:lstStyle/>
          <a:p>
            <a:r>
              <a:rPr lang="it-IT" dirty="0"/>
              <a:t>Key </a:t>
            </a:r>
            <a:r>
              <a:rPr lang="it-IT" dirty="0" err="1"/>
              <a:t>findings</a:t>
            </a:r>
            <a:r>
              <a:rPr lang="it-IT" dirty="0"/>
              <a:t> (RFM)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AFC802-B1A7-13E7-8DF0-1BC145F95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>
            <a:normAutofit/>
          </a:bodyPr>
          <a:lstStyle/>
          <a:p>
            <a:r>
              <a:rPr lang="it-IT" dirty="0"/>
              <a:t>Revenue by age </a:t>
            </a:r>
            <a:r>
              <a:rPr lang="it-IT" dirty="0" err="1"/>
              <a:t>bracket</a:t>
            </a:r>
            <a:endParaRPr lang="it-IT" dirty="0"/>
          </a:p>
          <a:p>
            <a:pPr lvl="1"/>
            <a:r>
              <a:rPr lang="it-IT" dirty="0"/>
              <a:t>Little </a:t>
            </a:r>
            <a:r>
              <a:rPr lang="it-IT" dirty="0" err="1"/>
              <a:t>normalized</a:t>
            </a:r>
            <a:r>
              <a:rPr lang="it-IT" dirty="0"/>
              <a:t> </a:t>
            </a:r>
            <a:r>
              <a:rPr lang="it-IT" dirty="0" err="1"/>
              <a:t>differences</a:t>
            </a:r>
            <a:endParaRPr lang="it-IT" dirty="0"/>
          </a:p>
          <a:p>
            <a:r>
              <a:rPr lang="it-IT" dirty="0"/>
              <a:t>Revenue by gender</a:t>
            </a:r>
          </a:p>
          <a:p>
            <a:pPr lvl="1"/>
            <a:r>
              <a:rPr lang="it-IT" dirty="0"/>
              <a:t>Little </a:t>
            </a:r>
            <a:r>
              <a:rPr lang="it-IT" dirty="0" err="1"/>
              <a:t>normalized</a:t>
            </a:r>
            <a:r>
              <a:rPr lang="it-IT" dirty="0"/>
              <a:t> </a:t>
            </a:r>
            <a:r>
              <a:rPr lang="it-IT" dirty="0" err="1"/>
              <a:t>differences</a:t>
            </a:r>
            <a:endParaRPr lang="it-IT" dirty="0"/>
          </a:p>
          <a:p>
            <a:r>
              <a:rPr lang="it-IT" dirty="0" err="1"/>
              <a:t>Average</a:t>
            </a:r>
            <a:r>
              <a:rPr lang="it-IT" dirty="0"/>
              <a:t> time </a:t>
            </a:r>
            <a:r>
              <a:rPr lang="it-IT" dirty="0" err="1"/>
              <a:t>interval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purchases</a:t>
            </a:r>
            <a:endParaRPr lang="it-IT" dirty="0"/>
          </a:p>
          <a:p>
            <a:pPr lvl="1"/>
            <a:r>
              <a:rPr lang="it-IT" dirty="0"/>
              <a:t>Little </a:t>
            </a:r>
            <a:r>
              <a:rPr lang="it-IT" dirty="0" err="1"/>
              <a:t>differences</a:t>
            </a:r>
            <a:r>
              <a:rPr lang="it-IT" dirty="0"/>
              <a:t>, on </a:t>
            </a:r>
            <a:r>
              <a:rPr lang="it-IT" dirty="0" err="1"/>
              <a:t>average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little</a:t>
            </a:r>
            <a:r>
              <a:rPr lang="it-IT" dirty="0"/>
              <a:t> over 1 </a:t>
            </a:r>
            <a:r>
              <a:rPr lang="it-IT" dirty="0" err="1"/>
              <a:t>year</a:t>
            </a:r>
            <a:endParaRPr lang="it-IT" dirty="0"/>
          </a:p>
          <a:p>
            <a:r>
              <a:rPr lang="it-IT" dirty="0"/>
              <a:t>Customers with no </a:t>
            </a:r>
            <a:r>
              <a:rPr lang="it-IT" dirty="0" err="1"/>
              <a:t>orders</a:t>
            </a:r>
            <a:r>
              <a:rPr lang="it-IT" dirty="0"/>
              <a:t> over time</a:t>
            </a:r>
          </a:p>
          <a:p>
            <a:pPr lvl="1"/>
            <a:r>
              <a:rPr lang="it-IT" dirty="0" err="1"/>
              <a:t>Almost</a:t>
            </a:r>
            <a:r>
              <a:rPr lang="it-IT" dirty="0"/>
              <a:t> </a:t>
            </a:r>
            <a:r>
              <a:rPr lang="it-IT" dirty="0" err="1"/>
              <a:t>constant</a:t>
            </a:r>
            <a:r>
              <a:rPr lang="it-IT" dirty="0"/>
              <a:t> 20%</a:t>
            </a:r>
          </a:p>
        </p:txBody>
      </p:sp>
    </p:spTree>
    <p:extLst>
      <p:ext uri="{BB962C8B-B14F-4D97-AF65-F5344CB8AC3E}">
        <p14:creationId xmlns:p14="http://schemas.microsoft.com/office/powerpoint/2010/main" val="1064733934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94</TotalTime>
  <Words>331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 Light</vt:lpstr>
      <vt:lpstr>Rockwell</vt:lpstr>
      <vt:lpstr>Wingdings</vt:lpstr>
      <vt:lpstr>Atlas</vt:lpstr>
      <vt:lpstr>E-commerce Customer &amp; Sales Analytics</vt:lpstr>
      <vt:lpstr>Business objective</vt:lpstr>
      <vt:lpstr>Key findings</vt:lpstr>
      <vt:lpstr>RFM segmentation</vt:lpstr>
      <vt:lpstr>Key findings (RFM)</vt:lpstr>
      <vt:lpstr>Key findings (RFM)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Spada</dc:creator>
  <cp:lastModifiedBy>Daniele Spada</cp:lastModifiedBy>
  <cp:revision>4</cp:revision>
  <dcterms:created xsi:type="dcterms:W3CDTF">2026-10-02T05:14:08Z</dcterms:created>
  <dcterms:modified xsi:type="dcterms:W3CDTF">2026-10-05T09:01:52Z</dcterms:modified>
</cp:coreProperties>
</file>